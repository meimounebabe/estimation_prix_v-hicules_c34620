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0654" autoAdjust="0"/>
  </p:normalViewPr>
  <p:slideViewPr>
    <p:cSldViewPr snapToGrid="0" snapToObjects="1">
      <p:cViewPr varScale="1">
        <p:scale>
          <a:sx n="67" d="100"/>
          <a:sy n="67" d="100"/>
        </p:scale>
        <p:origin x="14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91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Page de titre. Présentez-vous : Meimoune Baba Cheikh Sidiya, C34620. Projet Python encadré par le Professeur Ezyn SEGNANE. L'objectif : prédire le prix des voitures d'occasion grâce au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Plan. La présentation couvre tout le projet de bout en bout en 8 parties.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Contexte. Le marché de l'occasion indien est massif. CarDekho est l'équivalent du Bon Coin en Inde. La problématique : donner un prix de référence objectif basé sur les données réelles du marché.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Dataset. 4 340 annonces brutes. Après suppression de 763 doublons (17,6%), il reste 3 577 observations propres. La variable cible est selling_price (prix de vente en roupies indiennes).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Pipeline. 11 étapes structurées. Étape clé : log1p sur la variable cible pour normaliser la distribution asymétrique. Les 3 dernières étapes (09 à 11) concernent la modélisation, le tuning et le déploiement.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EDA. La distribution brute est log-normale : beaucoup de voitures bon marché, peu de très chères. Après log-transform, la distribution est symétrique. Les scatter plots confirment les relations attendues.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Corrélations. Year et car_age sont parfaitement anti-corrélés (−1.00) car car_age = 2024 − year. Les deux corrèlent fortement avec le prix. Le Diesel et la transmission automatique tirent le prix vers le haut.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Résultats. XGBoost est meilleur sur tous les critères. SVR échoue malgré la normalisation : trop sensible à la grande variance des prix. Après tuning, XGBoost atteint R² = 0.74.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Validation croisée k=5. XGBoost : boîte la plus haute ET la plus compacte → performant ET stable. SVR montre un outlier : instable sur certains folds.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Variables importantes. car_age domine (45% RF, 22% XGB). Les deux modèles s'accordent. L'analyse des résidus confirme l'absence de biais systématique : la distribution est centrée sur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Application. Déployée gratuitement sur Streamlit Community Cloud, connectée à GitHub. Deux fonctionnalités requises par le barème : prédiction individuelle (2pts) et prédiction par fichier CSV/Excel (2pts).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Choix Streamlit. Streamlit est le standard de l'industrie pour déployer des applications ML en Python. Gratuit, rapide à développer, déploiement en 1 clic via GitHub. Idéal pour ce type de projet académique.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Conclusion. Projet complet et fonctionnel. XGBoost R²=0.74 est un bon résultat pour des données réelles bruitées. Les perspectives les plus intéressantes : SHAP pour l'explicabilité et LightGBM pour la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Conclusion. Prêt pour les questions. Points à maîtriser : pourquoi XGBoost &gt; RF, pourquoi SVR échoue, signification de R²=0.74, choix d'encodage One-Hot vs Ordinal, validation croisée.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0D6E68">
              <a:alpha val="12000"/>
            </a:srgbClr>
          </a:solidFill>
          <a:ln w="15240">
            <a:solidFill>
              <a:srgbClr val="0D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PAR MACHINE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du Prix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Véhicules d'Occasion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Dataset — CarDekho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38912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 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29718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Meimoune Baba Cheikh Sidiya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Matricule 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32186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C34620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6557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tâche 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34655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supervisée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7124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Professeur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7124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Ezyn SEGNANE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5935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95935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–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54864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0" y="89611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8 128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833872" y="15544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réelles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54864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89611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71232" y="15544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Algorithmes testés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25603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290779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833872" y="3566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R² (XGBoost)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2560320"/>
            <a:ext cx="1554480" cy="1737360"/>
          </a:xfrm>
          <a:prstGeom prst="roundRect">
            <a:avLst>
              <a:gd name="adj" fmla="val 5882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290779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571232" y="356616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utilisées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11612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12471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4356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estimer le prix d'un véhicule 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1214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08483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CarDekho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3957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8 128 annonces réelles — variables et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3081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04495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35584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étapes : nettoyage → encodage → modélisation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4041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00507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des données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31596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: distributions, corrélations, outliers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1612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112471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&amp; Résultats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14356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algorithmes comparés — métriques R², MAE, RMSE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56048" y="21214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08483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3957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importantes &amp; analyse métier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97180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56048" y="3081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04495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déployée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335584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 individuelle &amp; en masse (Streamlit)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93192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4041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400507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431596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et perspectives d'amélioration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0D6E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Contexte &amp; Problématique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522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984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 centrale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estimer automatiquement et de manière fiable le prix de vente d'un véhicule d'occasion à partir de ses caractéristiques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2E2A2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en croissance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L'Inde est le 4ème marché auto mondial avec une demande de l'occasion en forte hausse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2E2A2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Fixation du prix difficile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657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Acheteurs et vendeurs manquent d'une référence objective pour négocier un prix juste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788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657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entraîné sur 8 128 annonces réelles peut fournir une estimation instantanée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Dataset CarDekho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0D6E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4 340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brutes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 supprimés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3 577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nettes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51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du dataset :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8321040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Textuel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 complet (marque + modèle)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Année de fabrication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selling_price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Prix de vente en ₹ — VARIABLE CIBLE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km_driven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Kilométrage 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Catégoriel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Petrol / Diesel / CNG / LPG / Electric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Catégoriel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/ Automatic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seller_type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Catégoriel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 / Dealer / Trustmark Dealer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Ordinal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9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 propriétaires (1→5)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oundRect">
            <a:avLst/>
          </a:prstGeom>
          <a:solidFill>
            <a:srgbClr val="0D6E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Pipeline Machine Learning — 11 Étapes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155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146304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87452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5920" y="180136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1155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56232" y="146304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56232" y="187452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180136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11155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146304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9272" y="187452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80136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11155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146304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187452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180136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11155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45352" y="146304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5352" y="187452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0" y="180136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35240" y="11155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08392" y="146304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08392" y="187452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OHE / Ordinal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92608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30358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" y="338328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3192" y="379476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645920" y="372160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292608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783080" y="30358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856232" y="338328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856232" y="379476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08960" y="372160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46120" y="292608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46120" y="30358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319272" y="338328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19272" y="379476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algos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372160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292608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09160" y="30358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82312" y="338328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82312" y="379476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35040" y="3721608"/>
            <a:ext cx="137160" cy="0"/>
          </a:xfrm>
          <a:prstGeom prst="line">
            <a:avLst/>
          </a:prstGeom>
          <a:noFill/>
          <a:ln w="19050">
            <a:solidFill>
              <a:srgbClr val="0D6E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72200" y="292608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172200" y="30358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245352" y="3383280"/>
            <a:ext cx="1179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45352" y="3794760"/>
            <a:ext cx="1179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Exploration des Données (EDA)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D6E6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502920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— Distribution brute vs log-transformée du prix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577840" y="91440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0241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 — EDA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0" y="1389888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brute : forte asymétrie positive (queue à droite)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log1p ramène vers la normalité → meilleurs modèles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Skewness brut élevé → log1p réduit l'asymétrie significativement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majorité des prix : entre 1L et 5L INR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91840"/>
            <a:ext cx="8412480" cy="1737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50292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 — Relations : year ↑ prix, km_driven ↓ prix, car_age ↓ prix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EDA : Corrélations &amp; Variables Catégorielles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D6E6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384048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3159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 — Matrice de corrélation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914400"/>
            <a:ext cx="4389120" cy="2103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30358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 — Prix moyen par carburant et transmission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389120" y="338328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E8F4F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462272" y="34381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+0.60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462272" y="3776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→ prix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583680" y="338328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FF0E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56832" y="34381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-0.60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56832" y="3776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car_age → prix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389120" y="420624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E8F4F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462272" y="426110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+0.37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462272" y="4599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→ prix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583680" y="420624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E8F4F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656832" y="426110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+0.40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56832" y="4599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→ prix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oundRect">
            <a:avLst/>
          </a:prstGeom>
          <a:solidFill>
            <a:srgbClr val="0D6E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Modélisation : Comparaison des 4 Algorithmes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3977640"/>
          </a:xfrm>
          <a:prstGeom prst="roundRect">
            <a:avLst>
              <a:gd name="adj" fmla="val 4545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93192" y="1389888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Linéaire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1645920" cy="0"/>
          </a:xfrm>
          <a:prstGeom prst="line">
            <a:avLst/>
          </a:prstGeom>
          <a:noFill/>
          <a:ln w="6350">
            <a:solidFill>
              <a:srgbClr val="787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770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131.5k 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189.4k 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566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R²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776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14600" y="1005840"/>
            <a:ext cx="2011680" cy="3977640"/>
          </a:xfrm>
          <a:prstGeom prst="roundRect">
            <a:avLst>
              <a:gd name="adj" fmla="val 4545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87752" y="1389888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1938528"/>
            <a:ext cx="1645920" cy="0"/>
          </a:xfrm>
          <a:prstGeom prst="line">
            <a:avLst/>
          </a:prstGeom>
          <a:noFill/>
          <a:ln w="6350">
            <a:solidFill>
              <a:srgbClr val="787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Test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0604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06040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06040" y="2770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113.1k 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0604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169.4k 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06040" y="3566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R²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06040" y="3776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1005840"/>
            <a:ext cx="2011680" cy="3977640"/>
          </a:xfrm>
          <a:prstGeom prst="roundRect">
            <a:avLst>
              <a:gd name="adj" fmla="val 4545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MEILLEUR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82312" y="1389888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1938528"/>
            <a:ext cx="1645920" cy="0"/>
          </a:xfrm>
          <a:prstGeom prst="line">
            <a:avLst/>
          </a:prstGeom>
          <a:noFill/>
          <a:ln w="6350">
            <a:solidFill>
              <a:srgbClr val="CCE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Test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00600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2770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109.3k ₹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0060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160.4k ₹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00600" y="3566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R²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3776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03720" y="1005840"/>
            <a:ext cx="2011680" cy="3977640"/>
          </a:xfrm>
          <a:prstGeom prst="roundRect">
            <a:avLst>
              <a:gd name="adj" fmla="val 4545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95160" y="1115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Échec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76872" y="1389888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SVR (RBF)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086600" y="1938528"/>
            <a:ext cx="1645920" cy="0"/>
          </a:xfrm>
          <a:prstGeom prst="line">
            <a:avLst/>
          </a:prstGeom>
          <a:noFill/>
          <a:ln w="6350">
            <a:solidFill>
              <a:srgbClr val="78716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Test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95160" y="2267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95160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95160" y="2770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124.5k ₹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9516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9516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197.3k ₹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95160" y="3566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R²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95160" y="3776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0.656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tuning GridSearchCV/RandomizedSearchCV : XGBoost Tuned → R² = 0.740 | MAE = 107.1k ₹ | RMSE = 155.3k 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Validation Croisée &amp; Comparaison Visuelle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D6E6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530352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670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5 — Comparaison R², MAE, RMSE des 4 algorithmes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44368"/>
            <a:ext cx="5303520" cy="2057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501091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6 — Distribution des scores R² — Validation croisée 5-Fold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943600" y="9144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08076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80760" y="12801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R² (0.75) + CV stable (std=0.012) → modèle robuste, pas d'overfitting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943600" y="19659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08076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080760" y="23317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 R² (0.73) mais légèrement moins stable que XGBoost en CV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43600" y="301752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080760" y="3108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Lin.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080760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à R²=0.61 — limite due à la non-linéarité des données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43600" y="40690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080760" y="4160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080760" y="44348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R²=0.58, instable en CV (outlier visible) — non adapté à ce dataset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oundRect">
            <a:avLst/>
          </a:prstGeom>
          <a:solidFill>
            <a:srgbClr val="0D6E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— Interprétation : Variables les plus Influentes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66928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081528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7 — Importance des variables (Random Forest &amp; XGBoost)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217920" y="960120"/>
            <a:ext cx="2560320" cy="841248"/>
          </a:xfrm>
          <a:prstGeom prst="roundRect">
            <a:avLst>
              <a:gd name="adj" fmla="val 8696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5508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car_age / year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L'âge = facteur n°1. Une voiture perd 15-20% de valeur par an en dépréciation.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17920" y="1938528"/>
            <a:ext cx="2560320" cy="841248"/>
          </a:xfrm>
          <a:prstGeom prst="roundRect">
            <a:avLst>
              <a:gd name="adj" fmla="val 8696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⛽ fuel_Diesel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55080" y="23500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diesel est valorisé pour son efficacité énergétique sur longs trajets.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17920" y="2916936"/>
            <a:ext cx="2560320" cy="841248"/>
          </a:xfrm>
          <a:prstGeom prst="roundRect">
            <a:avLst>
              <a:gd name="adj" fmla="val 8696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55080" y="3008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Transmission Auto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5080" y="3328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Boîte auto = confort premium. Prix moyen +4L INR vs manuelle.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3895344"/>
            <a:ext cx="2560320" cy="841248"/>
          </a:xfrm>
          <a:prstGeom prst="roundRect">
            <a:avLst>
              <a:gd name="adj" fmla="val 8696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3986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brand_encoded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43068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marque reflète le segment : Toyota/BMW maintiennent mieux leur valeur.</a:t>
            </a:r>
            <a:endParaRPr lang="en-US" sz="9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83280"/>
            <a:ext cx="5669280" cy="1600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5760" y="4992624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8 — Résidus XGBoost Tuned : distribution centrée sur 0 → pas de biais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— Application Web Déployée (Streamlit)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D6E6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53035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7880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déployée sur Streamlit Community 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43600" y="9144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fonctionnalités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463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Saisie Manuelle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77393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Entrez les caractéristiques d'un véhicule → prix en ₹ et € instantanément avec comparaison des 4 modèles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256032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2651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Import CSV/Excel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29626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Importez un fichier multi-véhicules → toutes les prédictions en une seule opération + export des résultats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37490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3840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Comparaison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41513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des 4 algorithmes avec toutes les métriques + graphique d'importance des variables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0" y="41148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1C1917"/>
          </a:solidFill>
          <a:ln/>
        </p:spPr>
      </p:sp>
      <p:sp>
        <p:nvSpPr>
          <p:cNvPr id="17" name="Text 14"/>
          <p:cNvSpPr/>
          <p:nvPr/>
        </p:nvSpPr>
        <p:spPr>
          <a:xfrm>
            <a:off x="59893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estimationprixv-hiculesc34620.streamlit.app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oundRect">
            <a:avLst/>
          </a:prstGeom>
          <a:solidFill>
            <a:srgbClr val="0D6E6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Streamlit ? — Choix Technologique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2A25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/ Django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 classique — généraliste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Nécessite HTML + CSS + JS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à développer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payant (serveur)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optimisé pour 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155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66360" y="162763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Conçu spécialement pour ML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pur — pas de front-end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rapide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gratuit via GitHub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native pandas, sklearn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1C1917"/>
          </a:solidFill>
          <a:ln w="19050">
            <a:solidFill>
              <a:srgbClr val="5DCA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2578608"/>
            <a:ext cx="694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— Conclusion &amp; Perspectives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D6E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du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Pipeline complet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824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étapes de bout en bout — données brutes → application déployée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D6E68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258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XGBoost — R² = 0.74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modèle, validé par cross-validation 5-fold stable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3580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127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Variables clés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car_age, fuel_Diesel, transmission_Auto expliquent &gt;70% de la prédiction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0448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9959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Application live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88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modes : prédiction individuelle + import CSV/Excel en masse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d'amélioration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298448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Enrichir les données (puissance moteur, état du véhicule, historique d'entretien)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LightGBM et CatBoost — alternatives performantes à XGBoost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Values pour l'interprétabilité individuelle de chaque prédiction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réentraînement périodique pour capturer l'évolution du marché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Graphiques interactifs Plotly dans l'application web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99332"/>
            <a:ext cx="7315200" cy="4114800"/>
          </a:xfrm>
          <a:prstGeom prst="roundRect">
            <a:avLst>
              <a:gd name="adj" fmla="val 3333"/>
            </a:avLst>
          </a:prstGeom>
          <a:solidFill>
            <a:srgbClr val="25222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8720" y="10058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25400">
            <a:solidFill>
              <a:srgbClr val="0D6E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057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312894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Étudiant 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Meimoune Baba Cheikh Sidiya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Matricule 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C34620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</a:t>
            </a:r>
            <a:r>
              <a:rPr lang="en-US" sz="13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estimationprixv-hiculesc34620.streamlit.app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38616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0.74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7271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Tuned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4372849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8 128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41464" y="4709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Annonces analysées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438616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onglets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4709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1612</Words>
  <Application>Microsoft Office PowerPoint</Application>
  <PresentationFormat>Affichage à l'écran (16:9)</PresentationFormat>
  <Paragraphs>290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Estimation du Prix des Véhicules d'Occasion — CarDekho</dc:title>
  <dc:subject>PptxGenJS Presentation</dc:subject>
  <dc:creator>Meimoune Baba Cheikh Sidiya</dc:creator>
  <cp:lastModifiedBy>Meimoune Babe</cp:lastModifiedBy>
  <cp:revision>3</cp:revision>
  <dcterms:created xsi:type="dcterms:W3CDTF">2026-06-12T19:33:20Z</dcterms:created>
  <dcterms:modified xsi:type="dcterms:W3CDTF">2026-06-13T09:55:09Z</dcterms:modified>
</cp:coreProperties>
</file>